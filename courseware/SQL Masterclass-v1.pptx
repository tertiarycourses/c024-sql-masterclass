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9" r:id="rId10"/>
    <p:sldId id="260" r:id="rId11"/>
    <p:sldId id="261" r:id="rId12"/>
    <p:sldId id="262" r:id="rId13"/>
    <p:sldId id="264" r:id="rId15"/>
    <p:sldId id="265" r:id="rId16"/>
    <p:sldId id="266" r:id="rId17"/>
    <p:sldId id="270" r:id="rId21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  <p:sldId id="301" r:id="rId52"/>
    <p:sldId id="302" r:id="rId53"/>
    <p:sldId id="303" r:id="rId54"/>
    <p:sldId id="304" r:id="rId55"/>
    <p:sldId id="305" r:id="rId56"/>
    <p:sldId id="306" r:id="rId57"/>
    <p:sldId id="307" r:id="rId58"/>
    <p:sldId id="308" r:id="rId59"/>
    <p:sldId id="310" r:id="rId61"/>
    <p:sldId id="311" r:id="rId62"/>
    <p:sldId id="312" r:id="rId63"/>
    <p:sldId id="313" r:id="rId64"/>
    <p:sldId id="314" r:id="rId65"/>
    <p:sldId id="315" r:id="rId66"/>
    <p:sldId id="316" r:id="rId67"/>
    <p:sldId id="317" r:id="rId68"/>
    <p:sldId id="318" r:id="rId69"/>
    <p:sldId id="319" r:id="rId70"/>
    <p:sldId id="320" r:id="rId71"/>
    <p:sldId id="321" r:id="rId72"/>
    <p:sldId id="322" r:id="rId73"/>
    <p:sldId id="323" r:id="rId74"/>
    <p:sldId id="324" r:id="rId75"/>
    <p:sldId id="325" r:id="rId76"/>
    <p:sldId id="326" r:id="rId77"/>
    <p:sldId id="327" r:id="rId78"/>
    <p:sldId id="328" r:id="rId79"/>
    <p:sldId id="336" r:id="rId87"/>
    <p:sldId id="329" r:id="rId80"/>
    <p:sldId id="330" r:id="rId81"/>
    <p:sldId id="331" r:id="rId82"/>
    <p:sldId id="332" r:id="rId83"/>
    <p:sldId id="333" r:id="rId84"/>
    <p:sldId id="334" r:id="rId85"/>
    <p:sldId id="335" r:id="rId86"/>
    <p:sldId id="337" r:id="rId88"/>
    <p:sldId id="338" r:id="rId89"/>
    <p:sldId id="339" r:id="rId90"/>
    <p:sldId id="340" r:id="rId91"/>
    <p:sldId id="341" r:id="rId92"/>
    <p:sldId id="342" r:id="rId93"/>
    <p:sldId id="343" r:id="rId94"/>
    <p:sldId id="344" r:id="rId95"/>
    <p:sldId id="345" r:id="rId96"/>
    <p:sldId id="346" r:id="rId97"/>
    <p:sldId id="347" r:id="rId98"/>
    <p:sldId id="348" r:id="rId99"/>
    <p:sldId id="349" r:id="rId100"/>
    <p:sldId id="350" r:id="rId101"/>
    <p:sldId id="351" r:id="rId102"/>
    <p:sldId id="352" r:id="rId103"/>
    <p:sldId id="353" r:id="rId104"/>
    <p:sldId id="354" r:id="rId105"/>
    <p:sldId id="355" r:id="rId106"/>
    <p:sldId id="356" r:id="rId107"/>
    <p:sldId id="357" r:id="rId108"/>
    <p:sldId id="359" r:id="rId110"/>
    <p:sldId id="360" r:id="rId111"/>
    <p:sldId id="361" r:id="rId112"/>
    <p:sldId id="362" r:id="rId113"/>
    <p:sldId id="363" r:id="rId114"/>
    <p:sldId id="364" r:id="rId115"/>
    <p:sldId id="365" r:id="rId116"/>
    <p:sldId id="366" r:id="rId117"/>
    <p:sldId id="367" r:id="rId118"/>
    <p:sldId id="368" r:id="rId119"/>
    <p:sldId id="369" r:id="rId120"/>
    <p:sldId id="370" r:id="rId121"/>
    <p:sldId id="371" r:id="rId122"/>
    <p:sldId id="372" r:id="rId123"/>
    <p:sldId id="373" r:id="rId124"/>
    <p:sldId id="374" r:id="rId125"/>
    <p:sldId id="375" r:id="rId126"/>
    <p:sldId id="376" r:id="rId127"/>
    <p:sldId id="377" r:id="rId128"/>
    <p:sldId id="378" r:id="rId129"/>
    <p:sldId id="379" r:id="rId130"/>
    <p:sldId id="380" r:id="rId131"/>
    <p:sldId id="381" r:id="rId132"/>
    <p:sldId id="382" r:id="rId133"/>
    <p:sldId id="383" r:id="rId134"/>
    <p:sldId id="387" r:id="rId13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5" Type="http://schemas.openxmlformats.org/officeDocument/2006/relationships/slide" Target="slides/slide7.xml"/><Relationship Id="rId16" Type="http://schemas.openxmlformats.org/officeDocument/2006/relationships/slide" Target="slides/slide8.xml"/><Relationship Id="rId17" Type="http://schemas.openxmlformats.org/officeDocument/2006/relationships/slide" Target="slides/slide9.xml"/><Relationship Id="rId21" Type="http://schemas.openxmlformats.org/officeDocument/2006/relationships/slide" Target="slides/slide10.xml"/><Relationship Id="rId25" Type="http://schemas.openxmlformats.org/officeDocument/2006/relationships/slide" Target="slides/slide11.xml"/><Relationship Id="rId26" Type="http://schemas.openxmlformats.org/officeDocument/2006/relationships/slide" Target="slides/slide12.xml"/><Relationship Id="rId27" Type="http://schemas.openxmlformats.org/officeDocument/2006/relationships/slide" Target="slides/slide13.xml"/><Relationship Id="rId28" Type="http://schemas.openxmlformats.org/officeDocument/2006/relationships/slide" Target="slides/slide14.xml"/><Relationship Id="rId29" Type="http://schemas.openxmlformats.org/officeDocument/2006/relationships/slide" Target="slides/slide15.xml"/><Relationship Id="rId30" Type="http://schemas.openxmlformats.org/officeDocument/2006/relationships/slide" Target="slides/slide16.xml"/><Relationship Id="rId31" Type="http://schemas.openxmlformats.org/officeDocument/2006/relationships/slide" Target="slides/slide17.xml"/><Relationship Id="rId32" Type="http://schemas.openxmlformats.org/officeDocument/2006/relationships/slide" Target="slides/slide18.xml"/><Relationship Id="rId33" Type="http://schemas.openxmlformats.org/officeDocument/2006/relationships/slide" Target="slides/slide19.xml"/><Relationship Id="rId34" Type="http://schemas.openxmlformats.org/officeDocument/2006/relationships/slide" Target="slides/slide20.xml"/><Relationship Id="rId35" Type="http://schemas.openxmlformats.org/officeDocument/2006/relationships/slide" Target="slides/slide21.xml"/><Relationship Id="rId36" Type="http://schemas.openxmlformats.org/officeDocument/2006/relationships/slide" Target="slides/slide22.xml"/><Relationship Id="rId37" Type="http://schemas.openxmlformats.org/officeDocument/2006/relationships/slide" Target="slides/slide23.xml"/><Relationship Id="rId38" Type="http://schemas.openxmlformats.org/officeDocument/2006/relationships/slide" Target="slides/slide24.xml"/><Relationship Id="rId39" Type="http://schemas.openxmlformats.org/officeDocument/2006/relationships/slide" Target="slides/slide25.xml"/><Relationship Id="rId40" Type="http://schemas.openxmlformats.org/officeDocument/2006/relationships/slide" Target="slides/slide26.xml"/><Relationship Id="rId41" Type="http://schemas.openxmlformats.org/officeDocument/2006/relationships/slide" Target="slides/slide27.xml"/><Relationship Id="rId42" Type="http://schemas.openxmlformats.org/officeDocument/2006/relationships/slide" Target="slides/slide28.xml"/><Relationship Id="rId43" Type="http://schemas.openxmlformats.org/officeDocument/2006/relationships/slide" Target="slides/slide29.xml"/><Relationship Id="rId44" Type="http://schemas.openxmlformats.org/officeDocument/2006/relationships/slide" Target="slides/slide30.xml"/><Relationship Id="rId45" Type="http://schemas.openxmlformats.org/officeDocument/2006/relationships/slide" Target="slides/slide31.xml"/><Relationship Id="rId46" Type="http://schemas.openxmlformats.org/officeDocument/2006/relationships/slide" Target="slides/slide32.xml"/><Relationship Id="rId47" Type="http://schemas.openxmlformats.org/officeDocument/2006/relationships/slide" Target="slides/slide33.xml"/><Relationship Id="rId48" Type="http://schemas.openxmlformats.org/officeDocument/2006/relationships/slide" Target="slides/slide34.xml"/><Relationship Id="rId49" Type="http://schemas.openxmlformats.org/officeDocument/2006/relationships/slide" Target="slides/slide35.xml"/><Relationship Id="rId50" Type="http://schemas.openxmlformats.org/officeDocument/2006/relationships/slide" Target="slides/slide36.xml"/><Relationship Id="rId51" Type="http://schemas.openxmlformats.org/officeDocument/2006/relationships/slide" Target="slides/slide37.xml"/><Relationship Id="rId52" Type="http://schemas.openxmlformats.org/officeDocument/2006/relationships/slide" Target="slides/slide38.xml"/><Relationship Id="rId53" Type="http://schemas.openxmlformats.org/officeDocument/2006/relationships/slide" Target="slides/slide39.xml"/><Relationship Id="rId54" Type="http://schemas.openxmlformats.org/officeDocument/2006/relationships/slide" Target="slides/slide40.xml"/><Relationship Id="rId55" Type="http://schemas.openxmlformats.org/officeDocument/2006/relationships/slide" Target="slides/slide41.xml"/><Relationship Id="rId56" Type="http://schemas.openxmlformats.org/officeDocument/2006/relationships/slide" Target="slides/slide42.xml"/><Relationship Id="rId57" Type="http://schemas.openxmlformats.org/officeDocument/2006/relationships/slide" Target="slides/slide43.xml"/><Relationship Id="rId58" Type="http://schemas.openxmlformats.org/officeDocument/2006/relationships/slide" Target="slides/slide44.xml"/><Relationship Id="rId59" Type="http://schemas.openxmlformats.org/officeDocument/2006/relationships/slide" Target="slides/slide45.xml"/><Relationship Id="rId61" Type="http://schemas.openxmlformats.org/officeDocument/2006/relationships/slide" Target="slides/slide46.xml"/><Relationship Id="rId62" Type="http://schemas.openxmlformats.org/officeDocument/2006/relationships/slide" Target="slides/slide47.xml"/><Relationship Id="rId63" Type="http://schemas.openxmlformats.org/officeDocument/2006/relationships/slide" Target="slides/slide48.xml"/><Relationship Id="rId64" Type="http://schemas.openxmlformats.org/officeDocument/2006/relationships/slide" Target="slides/slide49.xml"/><Relationship Id="rId65" Type="http://schemas.openxmlformats.org/officeDocument/2006/relationships/slide" Target="slides/slide50.xml"/><Relationship Id="rId66" Type="http://schemas.openxmlformats.org/officeDocument/2006/relationships/slide" Target="slides/slide51.xml"/><Relationship Id="rId67" Type="http://schemas.openxmlformats.org/officeDocument/2006/relationships/slide" Target="slides/slide52.xml"/><Relationship Id="rId68" Type="http://schemas.openxmlformats.org/officeDocument/2006/relationships/slide" Target="slides/slide53.xml"/><Relationship Id="rId69" Type="http://schemas.openxmlformats.org/officeDocument/2006/relationships/slide" Target="slides/slide54.xml"/><Relationship Id="rId70" Type="http://schemas.openxmlformats.org/officeDocument/2006/relationships/slide" Target="slides/slide55.xml"/><Relationship Id="rId71" Type="http://schemas.openxmlformats.org/officeDocument/2006/relationships/slide" Target="slides/slide56.xml"/><Relationship Id="rId72" Type="http://schemas.openxmlformats.org/officeDocument/2006/relationships/slide" Target="slides/slide57.xml"/><Relationship Id="rId73" Type="http://schemas.openxmlformats.org/officeDocument/2006/relationships/slide" Target="slides/slide58.xml"/><Relationship Id="rId74" Type="http://schemas.openxmlformats.org/officeDocument/2006/relationships/slide" Target="slides/slide59.xml"/><Relationship Id="rId75" Type="http://schemas.openxmlformats.org/officeDocument/2006/relationships/slide" Target="slides/slide60.xml"/><Relationship Id="rId76" Type="http://schemas.openxmlformats.org/officeDocument/2006/relationships/slide" Target="slides/slide61.xml"/><Relationship Id="rId77" Type="http://schemas.openxmlformats.org/officeDocument/2006/relationships/slide" Target="slides/slide62.xml"/><Relationship Id="rId78" Type="http://schemas.openxmlformats.org/officeDocument/2006/relationships/slide" Target="slides/slide63.xml"/><Relationship Id="rId79" Type="http://schemas.openxmlformats.org/officeDocument/2006/relationships/slide" Target="slides/slide64.xml"/><Relationship Id="rId80" Type="http://schemas.openxmlformats.org/officeDocument/2006/relationships/slide" Target="slides/slide66.xml"/><Relationship Id="rId81" Type="http://schemas.openxmlformats.org/officeDocument/2006/relationships/slide" Target="slides/slide67.xml"/><Relationship Id="rId82" Type="http://schemas.openxmlformats.org/officeDocument/2006/relationships/slide" Target="slides/slide68.xml"/><Relationship Id="rId83" Type="http://schemas.openxmlformats.org/officeDocument/2006/relationships/slide" Target="slides/slide69.xml"/><Relationship Id="rId84" Type="http://schemas.openxmlformats.org/officeDocument/2006/relationships/slide" Target="slides/slide70.xml"/><Relationship Id="rId85" Type="http://schemas.openxmlformats.org/officeDocument/2006/relationships/slide" Target="slides/slide71.xml"/><Relationship Id="rId86" Type="http://schemas.openxmlformats.org/officeDocument/2006/relationships/slide" Target="slides/slide72.xml"/><Relationship Id="rId87" Type="http://schemas.openxmlformats.org/officeDocument/2006/relationships/slide" Target="slides/slide65.xml"/><Relationship Id="rId88" Type="http://schemas.openxmlformats.org/officeDocument/2006/relationships/slide" Target="slides/slide73.xml"/><Relationship Id="rId89" Type="http://schemas.openxmlformats.org/officeDocument/2006/relationships/slide" Target="slides/slide74.xml"/><Relationship Id="rId90" Type="http://schemas.openxmlformats.org/officeDocument/2006/relationships/slide" Target="slides/slide75.xml"/><Relationship Id="rId91" Type="http://schemas.openxmlformats.org/officeDocument/2006/relationships/slide" Target="slides/slide76.xml"/><Relationship Id="rId92" Type="http://schemas.openxmlformats.org/officeDocument/2006/relationships/slide" Target="slides/slide77.xml"/><Relationship Id="rId93" Type="http://schemas.openxmlformats.org/officeDocument/2006/relationships/slide" Target="slides/slide78.xml"/><Relationship Id="rId94" Type="http://schemas.openxmlformats.org/officeDocument/2006/relationships/slide" Target="slides/slide79.xml"/><Relationship Id="rId95" Type="http://schemas.openxmlformats.org/officeDocument/2006/relationships/slide" Target="slides/slide80.xml"/><Relationship Id="rId96" Type="http://schemas.openxmlformats.org/officeDocument/2006/relationships/slide" Target="slides/slide81.xml"/><Relationship Id="rId97" Type="http://schemas.openxmlformats.org/officeDocument/2006/relationships/slide" Target="slides/slide82.xml"/><Relationship Id="rId98" Type="http://schemas.openxmlformats.org/officeDocument/2006/relationships/slide" Target="slides/slide83.xml"/><Relationship Id="rId99" Type="http://schemas.openxmlformats.org/officeDocument/2006/relationships/slide" Target="slides/slide84.xml"/><Relationship Id="rId100" Type="http://schemas.openxmlformats.org/officeDocument/2006/relationships/slide" Target="slides/slide85.xml"/><Relationship Id="rId101" Type="http://schemas.openxmlformats.org/officeDocument/2006/relationships/slide" Target="slides/slide86.xml"/><Relationship Id="rId102" Type="http://schemas.openxmlformats.org/officeDocument/2006/relationships/slide" Target="slides/slide87.xml"/><Relationship Id="rId103" Type="http://schemas.openxmlformats.org/officeDocument/2006/relationships/slide" Target="slides/slide88.xml"/><Relationship Id="rId104" Type="http://schemas.openxmlformats.org/officeDocument/2006/relationships/slide" Target="slides/slide89.xml"/><Relationship Id="rId105" Type="http://schemas.openxmlformats.org/officeDocument/2006/relationships/slide" Target="slides/slide90.xml"/><Relationship Id="rId106" Type="http://schemas.openxmlformats.org/officeDocument/2006/relationships/slide" Target="slides/slide91.xml"/><Relationship Id="rId107" Type="http://schemas.openxmlformats.org/officeDocument/2006/relationships/slide" Target="slides/slide92.xml"/><Relationship Id="rId108" Type="http://schemas.openxmlformats.org/officeDocument/2006/relationships/slide" Target="slides/slide93.xml"/><Relationship Id="rId110" Type="http://schemas.openxmlformats.org/officeDocument/2006/relationships/slide" Target="slides/slide94.xml"/><Relationship Id="rId111" Type="http://schemas.openxmlformats.org/officeDocument/2006/relationships/slide" Target="slides/slide95.xml"/><Relationship Id="rId112" Type="http://schemas.openxmlformats.org/officeDocument/2006/relationships/slide" Target="slides/slide96.xml"/><Relationship Id="rId113" Type="http://schemas.openxmlformats.org/officeDocument/2006/relationships/slide" Target="slides/slide97.xml"/><Relationship Id="rId114" Type="http://schemas.openxmlformats.org/officeDocument/2006/relationships/slide" Target="slides/slide98.xml"/><Relationship Id="rId115" Type="http://schemas.openxmlformats.org/officeDocument/2006/relationships/slide" Target="slides/slide99.xml"/><Relationship Id="rId116" Type="http://schemas.openxmlformats.org/officeDocument/2006/relationships/slide" Target="slides/slide100.xml"/><Relationship Id="rId117" Type="http://schemas.openxmlformats.org/officeDocument/2006/relationships/slide" Target="slides/slide101.xml"/><Relationship Id="rId118" Type="http://schemas.openxmlformats.org/officeDocument/2006/relationships/slide" Target="slides/slide102.xml"/><Relationship Id="rId119" Type="http://schemas.openxmlformats.org/officeDocument/2006/relationships/slide" Target="slides/slide103.xml"/><Relationship Id="rId120" Type="http://schemas.openxmlformats.org/officeDocument/2006/relationships/slide" Target="slides/slide104.xml"/><Relationship Id="rId121" Type="http://schemas.openxmlformats.org/officeDocument/2006/relationships/slide" Target="slides/slide105.xml"/><Relationship Id="rId122" Type="http://schemas.openxmlformats.org/officeDocument/2006/relationships/slide" Target="slides/slide106.xml"/><Relationship Id="rId123" Type="http://schemas.openxmlformats.org/officeDocument/2006/relationships/slide" Target="slides/slide107.xml"/><Relationship Id="rId124" Type="http://schemas.openxmlformats.org/officeDocument/2006/relationships/slide" Target="slides/slide108.xml"/><Relationship Id="rId125" Type="http://schemas.openxmlformats.org/officeDocument/2006/relationships/slide" Target="slides/slide109.xml"/><Relationship Id="rId126" Type="http://schemas.openxmlformats.org/officeDocument/2006/relationships/slide" Target="slides/slide110.xml"/><Relationship Id="rId127" Type="http://schemas.openxmlformats.org/officeDocument/2006/relationships/slide" Target="slides/slide111.xml"/><Relationship Id="rId128" Type="http://schemas.openxmlformats.org/officeDocument/2006/relationships/slide" Target="slides/slide112.xml"/><Relationship Id="rId129" Type="http://schemas.openxmlformats.org/officeDocument/2006/relationships/slide" Target="slides/slide113.xml"/><Relationship Id="rId130" Type="http://schemas.openxmlformats.org/officeDocument/2006/relationships/slide" Target="slides/slide114.xml"/><Relationship Id="rId131" Type="http://schemas.openxmlformats.org/officeDocument/2006/relationships/slide" Target="slides/slide115.xml"/><Relationship Id="rId132" Type="http://schemas.openxmlformats.org/officeDocument/2006/relationships/slide" Target="slides/slide116.xml"/><Relationship Id="rId133" Type="http://schemas.openxmlformats.org/officeDocument/2006/relationships/slide" Target="slides/slide117.xml"/><Relationship Id="rId134" Type="http://schemas.openxmlformats.org/officeDocument/2006/relationships/slide" Target="slides/slide118.xml"/><Relationship Id="rId138" Type="http://schemas.openxmlformats.org/officeDocument/2006/relationships/slide" Target="slides/slide1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" name="Picture 4" descr="tertiary-infotech-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640080"/>
            <a:ext cx="960120" cy="960120"/>
          </a:xfrm>
          <a:prstGeom prst="rect">
            <a:avLst/>
          </a:prstGeom>
        </p:spPr>
      </p:pic>
      <p:pic>
        <p:nvPicPr>
          <p:cNvPr id="6" name="Picture 5" descr="sql-bad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509760" y="548640"/>
            <a:ext cx="1920240" cy="19202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822960" y="2103120"/>
            <a:ext cx="109728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COURSE SLIDES  ·  NON-WSQ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606040"/>
            <a:ext cx="10972800" cy="1737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SQL Masterclass</a:t>
            </a:r>
          </a:p>
        </p:txBody>
      </p:sp>
      <p:sp>
        <p:nvSpPr>
          <p:cNvPr id="9" name="Rectangle 8"/>
          <p:cNvSpPr/>
          <p:nvPr/>
        </p:nvSpPr>
        <p:spPr>
          <a:xfrm>
            <a:off x="841248" y="4343400"/>
            <a:ext cx="2194560" cy="5486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22960" y="4617720"/>
            <a:ext cx="109728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6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Course Code: C024</a:t>
            </a:r>
          </a:p>
          <a:p>
            <a:r>
              <a:rPr sz="1600" b="0">
                <a:latin typeface="Arial"/>
              </a:rPr>
              <a:t>Conducted by Tertiary Infotech Academy Pte Ltd  ·  UEN 201200696W</a:t>
            </a:r>
          </a:p>
          <a:p>
            <a:r>
              <a:rPr sz="1600" b="0">
                <a:latin typeface="Arial"/>
              </a:rPr>
              <a:t>Trainer: Dr. Alfred Ang  ·  www.tertiarycourses.com.sg  ·  enquiry@tertiaryinfotech.com  ·  +65 6100 0613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5943600"/>
            <a:ext cx="109728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Version v1  ·  2 October 2026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6263640"/>
            <a:ext cx="109728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000" b="0">
                <a:solidFill>
                  <a:srgbClr val="5B6372"/>
                </a:solidFill>
                <a:latin typeface="Arial"/>
              </a:rPr>
              <a:t>© 2026 Tertiary Infotech Academy Pte Ltd. All rights reserved.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COURSE ADMINISTRATION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Welcome &amp; Housekeeping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5B6372"/>
                </a:solidFill>
                <a:latin typeface="Arial"/>
              </a:rPr>
              <a:t>YOUR TRAINER · GENERAL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5B637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Your Trainer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General Trainer template —
to be completed by the trainer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NAME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52984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52984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52984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TITLE / DESIGNATION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327660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3276600"/>
            <a:ext cx="91440" cy="56388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327660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402336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4023360"/>
            <a:ext cx="91440" cy="56388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402336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AREAS OF EXPERTISE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480560" y="477012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4480560" y="4770120"/>
            <a:ext cx="91440" cy="56388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773168" y="477012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TRAINING &amp; INDUSTRY EXPERIENCE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80560" y="5516880"/>
            <a:ext cx="6949440" cy="5638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480560" y="5516880"/>
            <a:ext cx="91440" cy="56388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773168" y="5516880"/>
            <a:ext cx="6400800" cy="5638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CONTACT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E2E8F0"/>
                </a:solidFill>
                <a:latin typeface="Arial"/>
              </a:rPr>
              <a:t>____________________________________________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YOUR TRAINER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About the Trainer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68780" y="2286000"/>
            <a:ext cx="1554480" cy="155448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68780" y="2286000"/>
            <a:ext cx="1554480" cy="155448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4400" b="1">
                <a:solidFill>
                  <a:srgbClr val="FFFFFF"/>
                </a:solidFill>
                <a:latin typeface="Arial"/>
              </a:rPr>
              <a:t>AA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160520"/>
            <a:ext cx="306324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100" b="1">
                <a:solidFill>
                  <a:srgbClr val="161B26"/>
                </a:solidFill>
                <a:latin typeface="Arial"/>
              </a:rPr>
              <a:t>Dr. Alfred Ang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4754880"/>
            <a:ext cx="306324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Principal Trainer
Tertiary Infotech Academy Pte Ltd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80560" y="178308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80560" y="1783080"/>
            <a:ext cx="91440" cy="93726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773168" y="178308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F6FEB"/>
                </a:solidFill>
                <a:latin typeface="Arial"/>
              </a:rPr>
              <a:t>ROLE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Principal Trainer &amp; Founder, Tertiary Infotech Academy Pte Ltd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480560" y="290322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480560" y="2903220"/>
            <a:ext cx="91440" cy="93726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773168" y="290322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10B981"/>
                </a:solidFill>
                <a:latin typeface="Arial"/>
              </a:rPr>
              <a:t>QUALIFICATIONS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PhD — over 20 years of training and consulting experience in data, analytics and software engineering.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480560" y="402336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480560" y="4023360"/>
            <a:ext cx="91440" cy="93726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402336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7C3AED"/>
                </a:solidFill>
                <a:latin typeface="Arial"/>
              </a:rPr>
              <a:t>DELIVERS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Courses on SQL, databases, data engineering, analytics and AI.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80560" y="5143500"/>
            <a:ext cx="6949440" cy="9372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4480560" y="5143500"/>
            <a:ext cx="91440" cy="93726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773168" y="5143500"/>
            <a:ext cx="6400800" cy="93726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100" b="1">
                <a:solidFill>
                  <a:srgbClr val="F59E0B"/>
                </a:solidFill>
                <a:latin typeface="Arial"/>
              </a:rPr>
              <a:t>FOUNDER</a:t>
            </a:r>
          </a:p>
          <a:p>
            <a:pPr algn="l">
              <a:spcAft>
                <a:spcPts val="3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Founder and lead instructor at Tertiary Infotech / Tertiary Courses.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7C3AED"/>
                </a:solidFill>
                <a:latin typeface="Arial"/>
              </a:rPr>
              <a:t>ICE-BREAKER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Let's Know Each Other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3337560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333756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2071116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0711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3118104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Your name, organisation and role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07822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425696" y="2331720"/>
            <a:ext cx="3337560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425696" y="2331720"/>
            <a:ext cx="333756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5719572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19572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35424" y="3703320"/>
            <a:ext cx="3118104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Your experience with spreadsheets, databases or programming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2668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7C3AED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074152" y="2331720"/>
            <a:ext cx="3337560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074152" y="2331720"/>
            <a:ext cx="3337560" cy="91440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68028" y="2715768"/>
            <a:ext cx="749808" cy="749808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68028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183880" y="3703320"/>
            <a:ext cx="3118104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The data you want to query and analyse after this course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HOUSEKEEPING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Ground Rules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Set your mobile phone to silent mode.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874520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Participate actively — no question is too small.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Mutual respect: agree to disagree.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10712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One conversation at a time.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Be punctual; return from breaks on time.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46904"/>
            <a:ext cx="3973068" cy="115214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4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Full attendance — attend the whole day to get the most from the course.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ONE BUSINESS STORY, ELEVEN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The Course Data — SG Mart Pte Ltd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🏬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8 Outlets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Orchard, Tampines, Jurong East, Woodlands, Bedok, Punggol, Clementi, Serangoon.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42 Staff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Managers, supervisors and cashiers — with roles, salaries and hire dates.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60 Members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Loyalty tiers from Basic to Platinum, with points balances.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🛒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25 Products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Fresh, chilled, bakery, beverages, snacks, household, personal care, frozen.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087368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🧾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180 Orders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full year of 2025 trading across every outlet and channel.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📊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685 Order Lines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fact table — quantity, price and discount on every item sold.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EVERY LAB HAS ITS OWN DATASET FOLDER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How to Load the Data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230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2307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90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Run the seed script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90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Open seed_sqlite.sql from the lab folder.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Execute the whole script (▶ / F9).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Creates and fills every table in one step.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Fastest way to start a lab.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706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7067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566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Import the CSV / Excel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566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Each lab folder holds its own CSVs + SQL.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SQLite Studio: Tools → Import.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Tick 'First line represents column names'.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The same files open directly in Excel.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182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1827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042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Use the prebuilt database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042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labs/_all/sgmart.db — every table, ready.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Database → Add a database, then Connect.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No import step at all.</a:t>
            </a:r>
          </a:p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Also includes the Excel workbook.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SCHEDULE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Lesson Plan — 1 Day, 7.5 Instructional Hours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Morning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Afternoon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Morning (9:30 am – 1:00 pm)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Welcome, introductions &amp; course overview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1: Data Modeling — Labs 1–3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2: Data Processing &amp; Analysis — Lab 4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Lunch break (1:00 – 1:30 pm)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Afternoon (1:30 pm – 5:30 pm)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2 (cont.): Insert, Update &amp; Delete — Labs 5–6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3: Data Transformation — Labs 7–9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Topic 4: Introduction to Data Warehouse — Labs 10–11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Course recap, Q&amp;A &amp; course feedback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4 TOPICS · 11 HANDS-ON LABS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Outline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1 · Data Modeling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Data Sources · Data Modeling · SQL Data Types · Create &amp; Manage Databases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2 · Data Processing and Analysis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SQL Queries · SQL Operators · Insert, Update &amp; Delete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3 · Data Transformation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Aggregate Data · Join Data · Group Data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Topic 4 · Introduction to Data Warehouse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Overview of Data Warehouse · Relational Databases · Stored Procedures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SQL FOUNDATIONS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What is SQL?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OVERVIEW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SQL?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Structured Query Language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standard language for storing, manipulating and retrieving data in databases.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An open standard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ANSI standard since 1986, ISO standard since 1987.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Works everywhere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MySQL, SQL Server, Access, Oracle, Sybase, Informix, PostgreSQL and more.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Declarative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You state WHAT data you want; the database engine works out how to get it.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CAPABILITIES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Can SQL Do?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Query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Execute queries and retrieve data from a database.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Change data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Insert, update and delete records.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Define structure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 new databases, tables, views and indexes.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Automate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Create stored procedures for reusable server-side logic.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087368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Secure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Set permissions on tables, procedures and views.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Analyse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Aggregate, join and group data for analysis.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13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MILESTONES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 Short History of 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1970 — E.F. Codd publishes the relational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6041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1975–77 — first SQL implementations &amp; IBM System 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5114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1980s — commercial releases: Oracle, SQL/DS, DB2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4187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1986/87 — SQL becomes the ANSI &amp; ISO standard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3260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By 1992 — over 100 SQL products on the market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14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ANSI-COMPLIANT ENGINES · SELECT · UPDATE · DELETE · INSERT · WHERE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Databases That Speak 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MySQL / MariaDB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web's workhorse open-source databases.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PostgreSQL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Advanced open-source object-relational database.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SQLite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Zero-config embedded database — our classroom engine.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Microsoft SQL Server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Enterprise database with T-SQL and stored procedures.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087368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Oracle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Enterprise market leader since 1980.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DB2 · Sybase · Access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IBM's DB2, SAP's Sybase and desktop MS Access.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15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TABLES · ROWS · COLUMNS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Components of a Table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Rows (records)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Columns (fields)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A database is one or more tables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Each table is a collection of rows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Every row of a table has the same row type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 row is the smallest unit inserted or deleted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Columns define the fields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The n-th field of every row is the n-th column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Each column has a name and a data type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Rows × columns = the relational grid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CLASSROOM TOOLS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Your Workbench — SQLite Studio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Desktop app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Browse and edit SQLite database files visually — created by Paweł Salawa.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Open source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Free, GPLv3-licensed, cross-platform (C++/Qt) — download at sqlitestudio.pl.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SQL editor built in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Write and run every query in this course from Tools → Open SQL editor.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Cloud alternative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 install? Use the free sqliteonline.com in your browser.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17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Data Modeling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Data Sources · Data Modeling · SQL Data Types · Create &amp; Manage Databases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18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Data Modeling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Relational databases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database is one or more tables; each table is rows (records) and columns (fields) with a fixed row type.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DDL statements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CREATE / ALTER / DROP define databases, tables, indexes and their columns and data types.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Constraints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NOT NULL, DEFAULT, UNIQUE, CHECK, PRIMARY KEY and FOREIGN KEY enforce rules on the data.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 modeling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Primary and foreign keys link tables into entity relationships that mirror the business process.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19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DATABASE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CREATE DATABASE statement creates a new SQL database.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DROP DATABASE permanently deletes an existing database — use with care.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DATABASE databasename;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DROP DATABASE databasename;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DATABASE testDB;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DROP DATABASE testDB;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20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TABLE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CREATE TABLE creates a new table in a database.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Each column is declared with a name and a data type.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table_name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column1 datatype,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column2 datatype,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column3 datatype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Persons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PersonID int,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LastName varchar(255),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FirstName varchar(255),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City varchar(255)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21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String Data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CHAR(n)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Fixed-length string, padded to n characters (0–255).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VARCHAR(n)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Variable-length string up to n characters — the everyday text type.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TEXT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Long free text (articles, descriptions) up to 65,535 bytes.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BLOB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Binary large object — images, files and other raw bytes.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ENUM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One value chosen from a fixed list you define.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Zero or more values chosen from a fixed list.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22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Numeric Data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 / INTEGER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Whole numbers — IDs, counts, populations.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SMALLINT / BIGINT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Smaller or larger integer ranges to fit the data.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DECIMAL(p,s)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Exact fixed-point numbers — money and precise quantities.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FLOAT / REAL / DOUBLE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Approximate floating-point numbers for scientific values.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BOOLEAN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True/false flags (stored as 0 / 1).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BIT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Individual bit values for compact flags.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23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Date and Time Data Types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Calendar date: YYYY-MM-DD.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TIME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Time of day: hh:mm:ss.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DATETIME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Date and time combined: YYYY-MM-DD hh:mm:ss.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TIMESTAMP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Date-time stored relative to epoch — auto-updates on change.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YEAR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Four-digit year.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Note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SQLite stores dates as TEXT, REAL or INTEGER under the hood.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24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ALTER TABLE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ALTER TABLE adds, deletes or modifies columns in an existing table.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It is also used to add or drop constraints after creation.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ALTER TABLE table_name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ADD column_name datatype;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ALTER TABLE Customers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ADD Email varchar(255);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25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Constraints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NOT NULL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Column must always contain a value.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UNIQUE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All values in the column must be different.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PRIMARY KEY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NOT NULL + UNIQUE — uniquely identifies each row; one per table.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FOREIGN KEY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Links a column to the primary key of another table.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CHECK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Limits the values allowed in a column by a condition.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DEFAULT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Supplies a value automatically when none is given.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26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NOT NULL &amp; DEFAULT Constraints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NOT NULL forces a column to always hold a value.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DEFAULT fills in a value automatically when the INSERT omits one.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t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col datatype NOT NULL,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col2 datatype DEFAULT 'value'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Persons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ID int NOT NULL,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LastName varchar(255) NOT NULL,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City varchar(255) DEFAULT 'Sandnes'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27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UNIQUE &amp; CHECK Constraints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UNIQUE guarantees no duplicate values in a column — a table may have many UNIQUE constraints.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CHECK limits the range of values a column accepts.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t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col int NOT NULL UNIQUE,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age int CHECK (age &gt;= 18)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Persons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ID int NOT NULL UNIQUE,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Age int CHECK (Age &gt;= 18)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28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PRIMARY KEY Constraint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PRIMARY KEY uniquely identifies each record — UNIQUE and NOT NULL combined.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table has exactly ONE primary key; it may span one or several columns.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t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ID int NOT NULL,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...,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PRIMARY KEY (ID)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Persons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ID int NOT NULL,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LastName varchar(255) NOT NULL,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PRIMARY KEY (ID)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29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FOREIGN KEY Constraint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FOREIGN KEY links two tables: a field in the child table refers to the PRIMARY KEY of the parent table.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This is the mechanism that turns separate tables into a data model.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child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...,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FOREIGN KEY (col)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REFERENCES parent(pk_col)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Orders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OrderID int NOT NULL,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PersonID int,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PRIMARY KEY (OrderID),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FOREIGN KEY (PersonID)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REFERENCES Persons(PersonID)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30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AUTO INCREMENT Field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Auto-increment generates a unique number automatically for each new record.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Usually applied to the primary key. In SQLite an INTEGER PRIMARY KEY auto-increments by default.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t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id int NOT NULL AUTO_INCREMENT,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...,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PRIMARY KEY (id)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TABLE Persons (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Personid int NOT NULL AUTO_INCREMENT,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LastName varchar(255) NOT NULL,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PRIMARY KEY (Personid)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31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 · DATA MODELING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INDEX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Indexes speed up searches and queries — the database finds rows without scanning the whole table.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Users never see the index; it works silently behind SELECT and WHERE.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INDEX index_name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ON table_name (column1, column2);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INDEX idx_lastname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ON Persons (LastName);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32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Modeling with Keys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data modeling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How keys create the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Explores data-oriented structures for the business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Identifies entity types (like classes) and their attributes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Spans conceptual → logical → physical models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Mirrors real business processes and relationships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PRIMARY KEY uniquely identifies each entity row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FOREIGN KEY points a child row at its parent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One-to-many: one Country has many Cities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Relationships form the entity-relationship diagram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33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SECURITY AWARENESS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Never paste user input straight into SQL.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SQL injection places malicious code in statements via web input — one of the most common hacking techniques. Always validate input and use parameterised queries.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34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Data Modeling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230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2307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90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90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Set Up SQLite Studio &amp; Import the SG Mart Database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706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7067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566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566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Create a Database and Tables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182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1827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042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042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Model Data with Constraints and Keys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35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SQLite Studio &amp; Import the SG Mart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Install SQLite Studio, connect it to the SG Mart sample database and explore its tables — your data source for the whole course.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working SQLite Studio with the SG Mart database connected, showing the Outlets, Products and Categories tables.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SQLite Studio, sgmart.db mock database, course repository (labs/)</a:t>
            </a:r>
            <a:r>
              <a:rPr sz="1300" b="0">
                <a:solidFill>
                  <a:srgbClr val="5B6372"/>
                </a:solidFill>
                <a:latin typeface="Arial"/>
              </a:rPr>
              <a:t/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36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SQLITE STUDIO SETUP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Download &amp; install SQLite Studio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310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Get sgmart.db from the course repo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9652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Add &amp; connect the 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5994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Browse the tables &amp; open a CSV in Excel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37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Set Up SQLite Studio &amp; Import the SG Mart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Databases panel shows the connected sgmart database with the Outlets, Products, Customers, Orders and OrderItems tables; the Data tab displays outlet rows; and the ORDER BY query returns 8 outlets led by SG Mart Tampines Hub (1680.5 sqm).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38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Database and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Create your own database named 'sgmart_practice' and build the Outlets, Categories, Suppliers and Products tables with CREATE TABLE, choosing an appropriate data type for every column.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new 'sgmart_practice' database containing four tables whose columns, data types and defaults model the SG Mart retail business.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 Studio, SQL Editor, lab-02 dataset (CSV + seed script)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39</a:t>
            </a: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CREATE DB &amp; TABLES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2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the 'sgmart_practice' database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310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Open the SQL Editor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9652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TABLE Outlets / Categories / Suppliers / Products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5994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Load the seed data &amp; inspect the schema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40</a:t>
            </a: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2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Create a Database and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sgmart_practice database lists Outlets, Categories, Suppliers and Products; each Structure tab shows the declared columns, data types, defaults and primary keys; and the counts return 8, 8, 9 and 25 rows.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41</a:t>
            </a: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01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Data with Constraints and Keys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Build a Persons–PersonOrders mini-model: enforce data rules with NOT NULL, UNIQUE, DEFAULT and CHECK, link the tables with a PRIMARY KEY / FOREIGN KEY relationship, and speed up searches with an index.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two-table data model (Persons ← PersonOrders) with working constraints, a foreign-key relationship and an index.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 Studio, SQL Editor, lab-03 dataset (Persons + PersonOrders)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42</a:t>
            </a: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CONSTRAINTS &amp; KEYS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3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Persons with constraints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310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Test the constraints with INSERTs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9652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PersonOrders with a FOREIGN KEY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5994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ALTER TABLE &amp; CREATE INDEX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43</a:t>
            </a: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3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Model Data with Constraints and Keys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valid insert appears in Persons with City = 'Singapore'; the three rule-breaking inserts each raise a constraint error; the join returns 7 matched orders led by 312.75; PersonOrders shows a foreign key to Persons in its DDL; and idx_lastname is listed under Indexes.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44</a:t>
            </a:r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Data Modeling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LO1 — identify relevant data sources and set up the SQL workbench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LO1 — create and manage databases and tables with SQL DDL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LO1 — apply data modeling for business processes with constraints, keys and relationships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Full step-by-step instructions for every lab are in the Learner Guide.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45</a:t>
            </a:r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Data Processing and Analysis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SQL Queries · SQL Operators · Insert, Update &amp; Delete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46</a:t>
            </a: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Data Processing and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Queries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SELECT retrieves data into a result-set; DISTINCT removes duplicates; WHERE filters rows.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Operators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AND/OR/NOT, IN, BETWEEN, LIKE wildcards and IS NULL build precise filter conditions.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Shaping results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ORDER BY sorts, LIMIT caps the row count, and aliases (AS) rename columns and tables.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Changing data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INSERT INTO adds records, UPDATE modifies them and DELETE removes them — always with WHERE.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47</a:t>
            </a: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Elements of 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Queries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Retrieve data against some criteria — the SELECT family.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Statements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Control transactions, sessions, connections and program flow.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Clauses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Components of queries and statements — WHERE, GROUP BY, ORDER BY.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Expressions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Combinations of symbols and operators producing values.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Predicates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Conditions that evaluate true or false to filter rows.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231636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6231636" y="4855464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6487668" y="5230368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87668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219188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Result-set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The table of rows a query returns.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48</a:t>
            </a: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SELECT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SELECT retrieves data from a database into a result-set.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 * for all columns, or name the columns you need.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column1, column2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table_name;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* FROM table_name;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* FROM City;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first_name, last_name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people;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49</a:t>
            </a: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SELECT DISTINCT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SELECT DISTINCT returns only the different (distinct) values.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 it when a column holds many duplicates and you want each value once.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DISTINCT column1, column2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table_name;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DISTINCT CountryCode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City;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50</a:t>
            </a: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WHERE Clause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WHERE filters records — only rows that satisfy the condition are returned.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Works with =, &lt;, &gt;, &lt;=, &gt;=, &lt;&gt; and the SQL operators.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column1, column2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table_name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condition;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* FROM City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District = 'Kabol';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51</a:t>
            </a:r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AND · OR · NOT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AND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Row shown only if ALL conditions are true.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OR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Row shown if ANY condition is true.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Row shown if the condition is NOT true.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Combine freely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Group with parentheses: WHERE a AND (b OR c).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087368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WHERE Country='Germany' AND City='Berlin'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Example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WHERE NOT Country='UK'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52</a:t>
            </a:r>
          </a:p>
        </p:txBody>
      </p:sp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 &amp; BETWEEN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 matches any value in a list — shorthand for multiple ORs.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BETWEEN selects values inside an inclusive range of numbers, text or dates.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column IN (v1, v2, ...);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column BETWEEN v1 AND v2;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* FROM City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CountryCode IN ('AFG','NLD');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* FROM Products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Price BETWEEN 10 AND 20;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53</a:t>
            </a:r>
          </a:p>
        </p:txBody>
      </p:sp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LIKE Operator &amp; Wildcards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LIKE searches for a pattern in a column.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% matches zero or more characters; _ matches exactly one character.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columns FROM table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column LIKE pattern;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-- names starting with 'a'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* FROM Customers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CustomerName LIKE 'a%';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-- countries containing 'island'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Name FROM Country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Name LIKE '%island%';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54</a:t>
            </a:r>
          </a:p>
        </p:txBody>
      </p:sp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NULL Values &amp; EXISTS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NULL field has no value — test it with IS NULL / IS NOT NULL, never with =.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EXISTS returns true if a subquery returns one or more records.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column IS NULL;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EXISTS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(SELECT col FROM t WHERE cond);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CustomerName FROM Customers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Address IS NULL;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SupplierName FROM Suppliers 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EXISTS (SELECT 1 FROM Products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WHERE SupplierID = s.SupplierID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AND Price &lt; 20);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55</a:t>
            </a:r>
          </a:p>
        </p:txBody>
      </p:sp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ORDER BY &amp; LIMIT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ORDER BY sorts the result-set — ascending by default, DESC for descending.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LIMIT caps how many records are returned.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columns FROM table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ORDER BY col1 ASC|DESC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LIMIT number;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-- top 10 cities by population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* FROM City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ORDER BY Population DESC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LIMIT 10;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56</a:t>
            </a:r>
          </a:p>
        </p:txBody>
      </p:sp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Aliases (AS)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Aliases give a table or column a temporary, more readable name.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alias exists only for the duration of that query.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column AS alias_name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table_name AS 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CountryCode AS CC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City;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CustomerID AS ID,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     CustomerName AS Customer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Customers;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57</a:t>
            </a: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INSERT INTO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INSERT INTO adds new records to a table.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Name the columns you supply; omitted columns take their DEFAULT (or NULL).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INSERT INTO table_name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(column1, column2, ...)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VALUES (value1, value2, ...);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INSERT INTO City (Name, CountryCode)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VALUES ('Singapore', 'SGP');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58</a:t>
            </a: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UPDATE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UPDATE modifies existing records.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ALWAYS include a WHERE clause — without it every row is updated.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UPDATE table_name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SET column1 = value1,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  column2 = value2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condition;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UPDATE City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SET Name = 'Kabol'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District = 'Kabol';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59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02 · DATA PROCESSING AND ANALYSIS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DELETE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DELETE removes existing records from a table.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ALWAYS include a WHERE clause — without it every row is deleted.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DELETE FROM table_name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condition;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DELETE FROM City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ID = 3285;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60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Data Processing and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230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2307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90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90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Query Data with SELECT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706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7067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566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566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Filter with SQL Operators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182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1827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042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6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042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Insert, Update and Delete Records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61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Query Data with SELECT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Query the SG Mart product catalogue with SELECT: retrieve all columns, chosen columns, distinct values and filtered rows, then combine sorting and limits to answer real merchandising questions.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set of working queries answering questions about SG Mart's products, categories and outlets.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 Studio, sgmart database, lab-04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62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QUERY WITH SELECT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4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SELECT * and named columns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310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SELECT DISTINCT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9652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Filter with WHERE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5994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Sort &amp; limit for top-N answers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63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4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Query Data with SELECT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Each query runs without error; the DISTINCT query returns 8 category codes; the top-10 price query is led by Pineapple Tarts 300g at $11.90; and the largest outlet is SG Mart Tampines Hub (1680.5 sqm).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64</a:t>
            </a: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656832"/>
            <a:ext cx="12191695" cy="20116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4937760" y="2148840"/>
            <a:ext cx="2313432" cy="91440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0" y="2514600"/>
            <a:ext cx="1219169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4800" b="1">
                <a:solidFill>
                  <a:srgbClr val="161B26"/>
                </a:solidFill>
                <a:latin typeface="Arial"/>
              </a:rPr>
              <a:t>Lunch Break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0" y="3703320"/>
            <a:ext cx="12191695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2200" b="1">
                <a:solidFill>
                  <a:srgbClr val="F59E0B"/>
                </a:solidFill>
                <a:latin typeface="Arial"/>
              </a:rPr>
              <a:t>1:00 pm – 1:30 pm</a:t>
            </a:r>
          </a:p>
        </p:txBody>
      </p:sp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Filter with SQL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5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Sharpen your WHERE clauses with AND/OR/NOT, IN, BETWEEN, LIKE wildcards, NULL tests and aliases to slice the SG Mart customer and staff data precisely.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query toolkit covering every SQL operator, answering pattern- and range-based questions on the SG Mart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 Studio, sgmart database, lab-05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66</a:t>
            </a:r>
          </a:p>
        </p:txBody>
      </p:sp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SQL OPERATORS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5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AND / OR / NOT conditions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310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 &amp; BETWEEN ranges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9652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LIKE pattern matching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5994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IS NULL &amp; aliases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67</a:t>
            </a:r>
          </a:p>
        </p:txBody>
      </p:sp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5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Filter with SQL Operators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IN query returns 16 Gold and Platinum members ordered by points; BETWEEN returns 11 products from $3.20 to $5.95; LIKE 'Frozen%' returns the 2 frozen lines; and IS NULL returns the 5 staff with no email, shown under the alias StaffName.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68</a:t>
            </a: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02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Insert, Update and Delete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6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Change data safely: INSERT a new product line, UPDATE prices with a WHERE clause, DELETE a discontinued record, and reload the dataset from the provided seed script.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modified Products table proving you can add, change and remove records — plus a cleanly reloaded database.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 Studio, sgmart database, lab-06 seed script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69</a:t>
            </a: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INSERT, UPDATE, DELETE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6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INSERT a new record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6041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Verify with SELECT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5114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UPDATE with WHERE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4187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DELETE with WHERE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3260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Reload from the seed script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70</a:t>
            </a:r>
          </a:p>
        </p:txBody>
      </p:sp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6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Insert, Update and Delete Records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SKU1026 row appears after the INSERT and is gone after the DELETE; the three new members are added; Beverages prices rise by 10% (Sparkling Water 1.5L goes from 2.35 to 2.59); and after reloading, the counts return 25 products, 60 customers and 180 orders.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71</a:t>
            </a:r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Data Processing and Analysis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LO2 — apply data processing and analysis using SQL queries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LO2 — analyse data with operators, patterns and sorting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LO2 — process data by inserting, updating and deleting records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Full step-by-step instructions for every lab are in the Learner Guide.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72</a:t>
            </a:r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Data Transformation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Aggregate Data · Join Data · Group Data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73</a:t>
            </a:r>
          </a:p>
        </p:txBody>
      </p:sp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Data Transformation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Aggregate functions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COUNT, AVG and SUM collapse many rows into one summary value.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Joins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INNER, LEFT, RIGHT and FULL OUTER joins combine rows from two tables on a matching key.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Set operations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UNION stacks the result-sets of two SELECTs with matching columns.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Grouping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GROUP BY aggregates per group; HAVING filters groups the way WHERE filters rows.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74</a:t>
            </a:r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DATA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Aggregate Functions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COUNT()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Number of rows matching a criterion.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AVG()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Average value of a numeric column.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SUM()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Total of a numeric column.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MIN()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Smallest value in a column.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087368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MAX()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Largest value in a column.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With WHERE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Aggregate only the rows that match a filter.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75</a:t>
            </a: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DATA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COUNT · AVG · SUM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Aggregate functions collapse many rows into a single summary value.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Combine with WHERE to summarise a filtered subset.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COUNT(column) FROM t;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AVG(column) FROM t;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SUM(column) FROM t;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COUNT(CountryCode) FROM City;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AVG(Population) FROM Country;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SUM(Population) FROM Country;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76</a:t>
            </a:r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DATA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SQL Joins — Four Ways to Combine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INNER JOIN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Only rows with matching values in BOTH tables.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LEFT JOIN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All rows from the left table + matches from the right (NULL if none).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RIGHT JOIN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All rows from the right table + matches from the left (NULL if none).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FULL OUTER JOIN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All rows from both tables, matched where possible.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77</a:t>
            </a:r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DATA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INNER JOIN Keyword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INNER JOIN selects records that have matching values in both tables.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The ON clause names the matching key columns.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columns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table1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INNER JOIN table2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ON table1.col = table2.col;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City.Name, Country.Name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City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INNER JOIN Country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ON City.CountryCode = Country.Code;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78</a:t>
            </a:r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DATA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LEFT JOIN &amp; RIGHT JOIN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LEFT JOIN returns ALL rows of the left table and matched rows of the right — NULL where there is no match.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RIGHT JOIN mirrors this for the right table. (SQLite supports LEFT JOIN; emulate RIGHT by swapping the tables.)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columns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table1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LEFT JOIN table2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ON table1.col = table2.col;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c.CustomerName, o.OrderID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Customers c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LEFT JOIN Orders o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ON c.CustomerID = o.CustomerID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ORDER BY c.CustomerName;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79</a:t>
            </a:r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DATA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FULL OUTER JOIN &amp; UNION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FULL OUTER JOIN returns all records when there is a match in either table.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UNION combines the result-sets of two SELECTs — same column count, types and order. In SQLite, a FULL JOIN is emulated with LEFT JOIN + UNION.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cols FROM t1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FULL OUTER JOIN t2 ON t1.c = t2.c;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cols FROM t1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UNION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cols FROM t2;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l.*, r.* FROM left l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LEFT JOIN right r ON l.id = r.id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UNION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l.*, r.* FROM right r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LEFT JOIN left l ON l.id = r.id;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80</a:t>
            </a:r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DATA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GROUP BY Statement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GROUP BY collects rows sharing a value into summary rows — 'customers per country'.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Used with COUNT, AVG, SUM, MIN, MAX to aggregate per group.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col, AGG(col2)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table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GROUP BY col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ORDER BY col;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CountryCode,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     AVG(Population)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City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GROUP BY CountryCode;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81</a:t>
            </a: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03 · DATA TRANSFORMATION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HAVING Clause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HAVING filters GROUPS — because WHERE cannot be used with aggregate functions.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WHERE filters rows before grouping; HAVING filters the aggregated groups after.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col, AGG(col2)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table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GROUP BY col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HAVING AGG(col2) condition;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CountryCode, AVG(Population)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FROM City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GROUP BY CountryCode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HAVING AVG(Population) &gt; 1000000;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82</a:t>
            </a:r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Data Transformation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63230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2307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090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7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090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Aggregate Data with COUNT, AVG and SUM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42706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427067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65566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8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65566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Join Data from Multiple Tables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182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221827" y="1783080"/>
            <a:ext cx="3337560" cy="10972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45042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7C3AED"/>
                </a:solidFill>
                <a:latin typeface="Arial"/>
              </a:rPr>
              <a:t>Lab 9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5042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Group Data with GROUP BY and HAVING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83</a:t>
            </a:r>
          </a:p>
        </p:txBody>
      </p:sp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Aggregate Data with COUNT, AVG and SUM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Summarise SG Mart's sales with COUNT, AVG, SUM, MIN and MAX: count transactions, average basket values, total revenue, and combine aggregates with DISTINCT and WHERE to answer real management questions.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management summary of SG Mart trading — order counts, average and total revenue, and filtered aggregate answers.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 Studio, sgmart database, lab-07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84</a:t>
            </a:r>
          </a:p>
        </p:txBody>
      </p:sp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AGGREGATE FUNCTIONS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7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COUNT rows &amp; distinct values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310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AVG a numeric column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9652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SUM for totals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5994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Aggregates with WHERE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85</a:t>
            </a:r>
          </a:p>
        </p:txBody>
      </p:sp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7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Aggregate Data with COUNT, AVG and SUM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COUNT(*) returns 180 orders while COUNT(CustomerID) returns 163 (17 walk-ins are NULL); average line value is 13.48; total revenue is 9231.43; prices range from 2.10 to 11.90; and there are 5 distinct payment methods with 165 completed orders.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86</a:t>
            </a:r>
          </a:p>
        </p:txBody>
      </p:sp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Join Data from Multiple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8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Combine tables: INNER JOIN orders to outlets and products, see how LEFT JOIN keeps the walk-in orders that have no member, chain three joins together, and emulate a FULL OUTER JOIN in SQLite using LEFT JOIN + UNION.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Joined result-sets linking orders, outlets, customers and products, plus a full-outer-join of two practice tables showing matched and unmatched rows.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 Studio, sgmart database, lab-08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87</a:t>
            </a:r>
          </a:p>
        </p:txBody>
      </p:sp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JOINS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8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INNER JOIN two tables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6041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Alias columns for readability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5114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LEFT JOIN keeps unmatched rows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4187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Chain three joins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3260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UNION for a full outer join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88</a:t>
            </a: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8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Join Data from Multiple Tables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inner joins return only matched rows; the LEFT JOIN lists every order with NULL names for walk-ins and the orphan count returns 17; the three-way join is led by SG Mart outlets selling Pineapple Tarts; and the full-join emulation returns ids 1–6 with NULLs on the sides that have no match.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89</a:t>
            </a: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03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Group Data with GROUP BY and HAVING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Aggregate per group: revenue by outlet and by category with GROUP BY, then keep only the groups that matter with HAVING — and see why HAVING exists where WHERE cannot go.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Grouped sales summaries of the SG Mart data — per-outlet and per-category totals, filtered to the groups that matter.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 Studio, sgmart database, lab-09 dataset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90</a:t>
            </a:r>
          </a:p>
        </p:txBody>
      </p:sp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GROUP BY &amp; HAVING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9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GROUP BY one column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310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Alias &amp; ORDER the summary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9652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HAVING filters groups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5994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WHERE + GROUP BY + HAVING together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91</a:t>
            </a:r>
          </a:p>
        </p:txBody>
      </p:sp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9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Group Data with GROUP BY and HAVING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GROUP BY query returns one row per outlet (8 rows, led by OTL08 with 28 orders); revenue by outlet is led by SG Mart Serangoon NEX at 1496.82; the HAVING &gt; 13 query returns the 5 qualifying outlets; and 18 members have 4 or more orders.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92</a:t>
            </a:r>
          </a:p>
        </p:txBody>
      </p:sp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Data Transformation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— transform data with aggregate functions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— transform data from multiple sources with joins and unions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LO3 — transform data by grouping and filtering groups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Full step-by-step instructions for every lab are in the Learner Guide.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93</a:t>
            </a:r>
          </a:p>
        </p:txBody>
      </p:sp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Introduction to Data Warehouse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61288" y="4160520"/>
            <a:ext cx="10058400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0">
                <a:solidFill>
                  <a:srgbClr val="5B6372"/>
                </a:solidFill>
                <a:latin typeface="Arial"/>
              </a:rPr>
              <a:t>Overview of Data Warehouse · Relational Databases · Stored Procedures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>04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94</a:t>
            </a: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KEY CONCEPTS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Key Concepts — Introduction to Data Warehouse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Data warehouse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A consolidated, historical, read-mostly database kept separate from operational systems for analysis.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OLAP vs OLTP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OLAP serves complex analytical queries; OLTP serves fast day-to-day transactions.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RDBMS &amp; E-R model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The relational model plus entity-relationship design maps business entities to tables and keys.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600" b="1">
                <a:solidFill>
                  <a:srgbClr val="161B26"/>
                </a:solidFill>
                <a:latin typeface="Arial"/>
              </a:rPr>
              <a:t>Stored procedures</a:t>
            </a:r>
          </a:p>
          <a:p>
            <a:pPr algn="l">
              <a:spcAft>
                <a:spcPts val="300"/>
              </a:spcAft>
            </a:pPr>
            <a:r>
              <a:rPr sz="1200" b="0">
                <a:solidFill>
                  <a:srgbClr val="5B6372"/>
                </a:solidFill>
                <a:latin typeface="Arial"/>
              </a:rPr>
              <a:t>Prepared SQL saved on the server (SQL Server) for reuse — callable with parameters via EXEC.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95</a:t>
            </a:r>
          </a:p>
        </p:txBody>
      </p:sp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INTRODUCTION TO DATA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is a Data Warehouse?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Separate store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Kept apart from the organisation's operational database.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Historical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Consolidated historical data with no frequent updates.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For decisions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Helps executives organise, understand and use data strategically.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Integrating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Merges diverse application systems into one analytical view.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96</a:t>
            </a:r>
          </a:p>
        </p:txBody>
      </p:sp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Warehouse vs Operational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Operational DB (OLTP)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Data Warehouse (OLAP)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Built for known tasks: search, index, update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Many concurrent short transactions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Current, constantly-changing data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Normalised for write efficiency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Built for complex analytical queries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Read-mostly, batch loaded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Consolidated historical data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Structured for fast analysis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97</a:t>
            </a:r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INTRODUCTION TO DATA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Warehouse Features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Subject oriented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Organised around subjects — product, customers, sales — not daily operations.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Integrated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Built by integrating data from heterogeneous sources into one schema.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Time variant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Data is identified with a time period, enabling trend analysis.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Non-volatile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Loaded data is not erased when new data is added.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98</a:t>
            </a:r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INTRODUCTION TO DATA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Data Warehouse Applications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Financial services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Portfolio and risk analysis.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413504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413504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669536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669536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401056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Banking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Customer and product profitability.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049768" y="1783080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8049768" y="1783080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305800" y="2542032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8305800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037320" y="1911096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Consumer goods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Sales and promotion analysis.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77240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764792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Retail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Basket analysis and inventory.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413504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4413504" y="4087368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4669536" y="4846320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69536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01056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Manufacturing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Controlled process optimisation.</a:t>
            </a:r>
          </a:p>
        </p:txBody>
      </p:sp>
      <p:sp>
        <p:nvSpPr>
          <p:cNvPr id="32" name="Rectangle 31"/>
          <p:cNvSpPr/>
          <p:nvPr/>
        </p:nvSpPr>
        <p:spPr>
          <a:xfrm>
            <a:off x="8049768" y="4087368"/>
            <a:ext cx="3361944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8049768" y="4087368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8305800" y="4846320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305800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037320" y="4215384"/>
            <a:ext cx="2154936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Closed loop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Plan → execute → assess feedback for management.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99</a:t>
            </a: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INTRODUCTION TO DATA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OLAP Servers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ROLAP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Relational OLAP — analysis directly over relational tables.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MOLAP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Multidimensional OLAP — pre-computed data cubes.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HOLAP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Hybrid OLAP — relational detail with cube summaries.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Specialized SQL Servers</a:t>
            </a:r>
          </a:p>
          <a:p>
            <a:pPr algn="l">
              <a:spcAft>
                <a:spcPts val="300"/>
              </a:spcAft>
            </a:pPr>
            <a:r>
              <a:rPr sz="1100" b="0">
                <a:solidFill>
                  <a:srgbClr val="5B6372"/>
                </a:solidFill>
                <a:latin typeface="Arial"/>
              </a:rPr>
              <a:t>Engines tuned for analytical SQL workloads.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100</a:t>
            </a:r>
          </a:p>
        </p:txBody>
      </p:sp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RDBMS — the Basis for SQL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What an RDBMS is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Why it wins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Relational Database Management System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Data lives in tables of rows and columns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Basis of SQL Server, DB2, Oracle, MySQL, Access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Tables split into fields (columns) and records (rows)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Simple yet powerful relational model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Tracks inventories, e-commerce, customer data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Fits any data where points relate to each other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Managed securely, consistently, at scale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101</a:t>
            </a:r>
          </a:p>
        </p:txBody>
      </p:sp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DATA MAPPING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E-R Model → Database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Identify entities — the business objects (Routes, Timetables, Stations)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6041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List attributes and pick each entity's primary key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5114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Draw relationships — link entities with foreign keys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4187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TABLE for each entity with PK &amp; FK constraints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F6FEB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3260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Load the data and verify with SELECT queries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102</a:t>
            </a:r>
          </a:p>
        </p:txBody>
      </p:sp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Case Study: SMRT Public Transport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21208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6355080" y="1783080"/>
            <a:ext cx="507492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1965960"/>
            <a:ext cx="4754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F6FEB"/>
                </a:solidFill>
                <a:latin typeface="Arial"/>
              </a:rPr>
              <a:t>The business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1965960"/>
            <a:ext cx="45720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The E-R 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2468880"/>
            <a:ext cx="47548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SMRT operates buses, taxis and trains across Singapore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Needs schedules, routes and disruption history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Analyses service impact and severity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0" y="2468880"/>
            <a:ext cx="461772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600" b="0">
                <a:solidFill>
                  <a:srgbClr val="161B26"/>
                </a:solidFill>
                <a:latin typeface="Arial"/>
              </a:rPr>
              <a:t>•  Routes — route_id (PK), type, code, name, direction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Timetables — timetable_id (PK), route_id (FK), station_code (FK), frequency, first/last trip</a:t>
            </a:r>
          </a:p>
          <a:p>
            <a:pPr>
              <a:spcAft>
                <a:spcPts val="1000"/>
              </a:spcAft>
            </a:pPr>
            <a:r>
              <a:rPr sz="1400" b="0">
                <a:solidFill>
                  <a:srgbClr val="5B6372"/>
                </a:solidFill>
                <a:latin typeface="Arial"/>
              </a:rPr>
              <a:t>–  DisruptedRoutes — disrupt_no (PK), date, type, details, timetable_id (FK)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103</a:t>
            </a: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INTRODUCTION TO DATA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Stored Procedures (SQL Server)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A stored procedure is prepared SQL saved on the server, reusable by name.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Not available in SQLite — this is SQL Server / MySQL territory.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PROCEDURE procedure_name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AS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sql_statement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GO;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EXEC procedure_name;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PROCEDURE SelectAllCustomers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AS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* FROM Customers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GO;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EXEC SelectAllCustomers;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104</a:t>
            </a:r>
          </a:p>
        </p:txBody>
      </p:sp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04 · INTRODUCTION TO DATA WAREHOUSE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Stored Procedure with Parameters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1051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Parameters let one procedure act on the values passed to it.</a:t>
            </a:r>
          </a:p>
          <a:p>
            <a:pPr>
              <a:spcAft>
                <a:spcPts val="500"/>
              </a:spcAft>
            </a:pPr>
            <a:r>
              <a:rPr sz="1500" b="0">
                <a:solidFill>
                  <a:srgbClr val="161B26"/>
                </a:solidFill>
                <a:latin typeface="Arial"/>
              </a:rPr>
              <a:t>•  Call EXEC with the parameter values.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777240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005840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9CDCFE"/>
                </a:solidFill>
                <a:latin typeface="Arial"/>
              </a:rPr>
              <a:t>SYNTAX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PROCEDURE name @param type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AS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sql_statement_using @param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GO;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EXEC name @param = value;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36208" y="2971800"/>
            <a:ext cx="5175504" cy="3108960"/>
          </a:xfrm>
          <a:prstGeom prst="rect">
            <a:avLst/>
          </a:prstGeom>
          <a:solidFill>
            <a:srgbClr val="0B12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64808" y="3099816"/>
            <a:ext cx="4718304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100" b="1">
                <a:solidFill>
                  <a:srgbClr val="86EFAC"/>
                </a:solidFill>
                <a:latin typeface="Arial"/>
              </a:rPr>
              <a:t>EXAMPLE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64808" y="3447288"/>
            <a:ext cx="4718304" cy="24688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CREATE PROCEDURE SelectAllCustomers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@City nvarchar(30)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AS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SELECT * FROM Customers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WHERE City = @City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GO;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EXEC SelectAllCustomers</a:t>
            </a:r>
          </a:p>
          <a:p>
            <a:pPr algn="l">
              <a:spcAft>
                <a:spcPts val="200"/>
              </a:spcAft>
            </a:pPr>
            <a:r>
              <a:rPr sz="1250" b="0">
                <a:solidFill>
                  <a:srgbClr val="FFFFFF"/>
                </a:solidFill>
                <a:latin typeface="Consolas"/>
              </a:rPr>
              <a:t>  @City = 'London';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105</a:t>
            </a:r>
          </a:p>
        </p:txBody>
      </p:sp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WHAT YOU'LL DO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Hands-On Labs — Introduction to Data Warehouse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52968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2529687" y="1783080"/>
            <a:ext cx="3337560" cy="10972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275828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F6FEB"/>
                </a:solidFill>
                <a:latin typeface="Arial"/>
              </a:rPr>
              <a:t>Lab 10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275828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Map an E-R Model to Database Tables (SMRT Case Study)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324447" y="1783080"/>
            <a:ext cx="3337560" cy="429768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6324447" y="1783080"/>
            <a:ext cx="3337560" cy="10972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553047" y="2011680"/>
            <a:ext cx="29260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900" b="1">
                <a:solidFill>
                  <a:srgbClr val="10B981"/>
                </a:solidFill>
                <a:latin typeface="Arial"/>
              </a:rPr>
              <a:t>Lab 11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53047" y="2697480"/>
            <a:ext cx="2926080" cy="3108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•  Author Stored Procedures for SQL Server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106</a:t>
            </a: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Map an E-R Model to Database Tables (SMRT Case Study)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Take the SMRT public-transport E-R model (Routes, Stations, Timetables, DisruptedRoutes) and map it to physical tables: create each entity with its primary key, wire the foreign-key relationships, load the mock operational data and verify the model with joined queries.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A four-table transport schema in SQLite that faithfully implements the SMRT E-R model with PK/FK mappings, loaded with real-shaped route, timetable and disruption data.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SQLite Studio, sgmart_practice database, lab-10 dataset (Routes, Stations, Timetables, DisruptedRoutes)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107</a:t>
            </a:r>
          </a:p>
        </p:txBody>
      </p:sp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SMRT CASE STUDY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10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Review the SMRT E-R model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6041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Routes (parent)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5114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Stations &amp; Timetables (children)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4187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CREATE DisruptedRoutes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3260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Load data &amp; verify with joins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108</a:t>
            </a: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10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Map an E-R Model to Database Tables (SMRT Case Study)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The four tables exist with their PK/FK constraints visible in the DDL; Routes returns 8 rows; the NSL station query returns 4 stations in line order; the three-way join returns the 6 disruptions each linked to a route and station; and the LEFT JOIN summary lists every route including those with zero disruptions.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109</a:t>
            </a:r>
          </a:p>
        </p:txBody>
      </p:sp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TOPIC 04 · HANDS-ON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Author Stored Procedures for SQL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1554480" cy="4572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7240" y="1737360"/>
            <a:ext cx="15544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600" b="1">
                <a:solidFill>
                  <a:srgbClr val="FFFFFF"/>
                </a:solidFill>
                <a:latin typeface="Arial"/>
              </a:rPr>
              <a:t>LAB 11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2331720"/>
            <a:ext cx="1069848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100" b="0">
                <a:solidFill>
                  <a:srgbClr val="161B26"/>
                </a:solidFill>
                <a:latin typeface="Arial"/>
              </a:rPr>
              <a:t>Write stored procedures in SQL Server syntax against the SG Mart data — a plain procedure and a parameterised one — and understand where they run (SQL Server / MySQL, not SQLite) and why warehouses use them for repeatable batch work.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3931920"/>
            <a:ext cx="10698480" cy="182880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05840" y="411480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You'll build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05840" y="448056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61B26"/>
                </a:solidFill>
                <a:latin typeface="Arial"/>
              </a:rPr>
              <a:t>Stored-procedure scripts (plain and parameterised) ready to run on SQL Server, plus the EXEC calls that invoke them.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05840" y="5120640"/>
            <a:ext cx="102412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300" b="1">
                <a:solidFill>
                  <a:srgbClr val="5B6372"/>
                </a:solidFill>
                <a:latin typeface="Arial"/>
              </a:rPr>
              <a:t>Tools:  </a:t>
            </a:r>
            <a:r>
              <a:rPr sz="1300" b="0">
                <a:solidFill>
                  <a:srgbClr val="5B6372"/>
                </a:solidFill>
                <a:latin typeface="Arial"/>
              </a:rPr>
              <a:t>SQL Editor, SQL Server syntax (sqliteonline.com's MS SQL engine, or any SQL Server), lab-11 dataset (seed_mysql.sql)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110</a:t>
            </a:r>
          </a:p>
        </p:txBody>
      </p:sp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STORED PROCEDURES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Lab 11 — How It Flows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341424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341424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Set up the tables on SQL Server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618841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2966313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2966313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530497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530497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076041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Write CREATE PROCEDURE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80791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155386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155386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5719570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719570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65114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EXEC the procedure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996987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7344459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7344459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79086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9086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454187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Add a parameter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18606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533532" y="2331720"/>
            <a:ext cx="1878177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ectangle 31"/>
          <p:cNvSpPr/>
          <p:nvPr/>
        </p:nvSpPr>
        <p:spPr>
          <a:xfrm>
            <a:off x="9533532" y="2331720"/>
            <a:ext cx="1878177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097716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097716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643260" y="3703320"/>
            <a:ext cx="1658721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EXEC with a value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111</a:t>
            </a:r>
          </a:p>
        </p:txBody>
      </p:sp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LAB 11 · VERIFY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Author Stored Procedures for SQL Server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103120"/>
            <a:ext cx="10698480" cy="2377440"/>
          </a:xfrm>
          <a:prstGeom prst="rect">
            <a:avLst/>
          </a:prstGeom>
          <a:solidFill>
            <a:srgbClr val="E8F7E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7280" y="237744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1">
                <a:solidFill>
                  <a:srgbClr val="127A3E"/>
                </a:solidFill>
                <a:latin typeface="Arial"/>
              </a:rPr>
              <a:t>✅  Test 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3017520"/>
            <a:ext cx="10058400" cy="12801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0">
                <a:solidFill>
                  <a:srgbClr val="161B26"/>
                </a:solidFill>
                <a:latin typeface="Arial"/>
              </a:rPr>
              <a:t>All three procedures create without error; EXEC SelectAllCustomers returns the full 60-member list; EXEC SelectCustomersByTier @Tier = 'Platinum' returns only the 7 Platinum members ordered by points; and the two-parameter procedure returns one summary row for OTL08.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112</a:t>
            </a:r>
          </a:p>
        </p:txBody>
      </p:sp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TOPIC RECAP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Recap — Introduction to Data Warehouse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1783080"/>
            <a:ext cx="10607040" cy="4480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LO4 — apply data mapping from an E-R model to a data warehouse schema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You can now: LO4 — operate data-warehouse platform capabilities with reusable stored procedures</a:t>
            </a:r>
          </a:p>
          <a:p>
            <a:pPr>
              <a:spcAft>
                <a:spcPts val="1000"/>
              </a:spcAft>
            </a:pPr>
            <a:r>
              <a:rPr sz="1700" b="0">
                <a:solidFill>
                  <a:srgbClr val="161B26"/>
                </a:solidFill>
                <a:latin typeface="Arial"/>
              </a:rPr>
              <a:t>•  Full step-by-step instructions for every lab are in the Learner Guide.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113</a:t>
            </a: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777240" y="2286000"/>
            <a:ext cx="128016" cy="18288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43000" y="2331720"/>
            <a:ext cx="100584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800" b="1">
                <a:solidFill>
                  <a:srgbClr val="1F6FEB"/>
                </a:solidFill>
                <a:latin typeface="Arial"/>
              </a:rPr>
              <a:t>WRAP-UP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43000" y="2743200"/>
            <a:ext cx="1042416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4000" b="1">
                <a:solidFill>
                  <a:srgbClr val="161B26"/>
                </a:solidFill>
                <a:latin typeface="Arial"/>
              </a:rPr>
              <a:t>Course Summary &amp; Next Steps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0" y="640080"/>
            <a:ext cx="2560320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7200" b="1">
                <a:solidFill>
                  <a:srgbClr val="E2E8F0"/>
                </a:solidFill>
                <a:latin typeface="Arial"/>
              </a:rPr>
              <a:t/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114</a:t>
            </a:r>
          </a:p>
        </p:txBody>
      </p:sp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LEARNING OUTCOMES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What You Achieved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Data Modeling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Created databases, tables, constraints, keys and relationships in SQLite Studio.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Data Processing &amp; Analysis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Queried, filtered, sorted, inserted, updated and deleted data with SQL.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Data Transformation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Aggregated, joined, unioned and grouped data across multiple tables.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Data Warehouse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Mapped an E-R model to tables and authored stored procedures.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115</a:t>
            </a: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CONTINUE YOUR JOURNEY · tertiarycourses.com.sg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Recommended Next Courses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157984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Building Professional Websites with WordPress</a:t>
            </a:r>
          </a:p>
          <a:p>
            <a:r>
              <a:rPr sz="1500" b="1">
                <a:latin typeface="Arial"/>
              </a:rPr>
              <a:t>Tertiary Infotech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1298448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157984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157984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Building a Successful eCommerce Store with WooCommerce</a:t>
            </a:r>
          </a:p>
          <a:p>
            <a:r>
              <a:rPr sz="1500" b="1">
                <a:latin typeface="Arial"/>
              </a:rPr>
              <a:t>Tertiary Infotech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3319272"/>
            <a:ext cx="91440" cy="1298448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3694176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Mastering HTML5 and CSS3 Fundamentals for Professional Web Design</a:t>
            </a:r>
          </a:p>
          <a:p>
            <a:r>
              <a:rPr sz="1500" b="1">
                <a:latin typeface="Arial"/>
              </a:rPr>
              <a:t>Tertiary Infotech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3319272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3319272"/>
            <a:ext cx="91440" cy="1298448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3694176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3694176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3447288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Hands-On Web App Development with Javascript</a:t>
            </a:r>
          </a:p>
          <a:p>
            <a:r>
              <a:rPr sz="1500" b="1">
                <a:latin typeface="Arial"/>
              </a:rPr>
              <a:t>Tertiary Infotech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77240" y="4855464"/>
            <a:ext cx="5180076" cy="1298448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77240" y="4855464"/>
            <a:ext cx="91440" cy="1298448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3272" y="5230368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33272" y="5230368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5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764792" y="4983480"/>
            <a:ext cx="3973068" cy="111556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500" b="1">
                <a:solidFill>
                  <a:srgbClr val="161B26"/>
                </a:solidFill>
                <a:latin typeface="Arial"/>
              </a:rPr>
              <a:t>Running a Successful eCommerce Store with Shopify</a:t>
            </a:r>
          </a:p>
          <a:p>
            <a:r>
              <a:rPr sz="1500" b="1">
                <a:latin typeface="Arial"/>
              </a:rPr>
              <a:t>Tertiary Infotech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116</a:t>
            </a:r>
          </a:p>
        </p:txBody>
      </p:sp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F6FEB"/>
                </a:solidFill>
                <a:latin typeface="Arial"/>
              </a:rPr>
              <a:t>ENQUIRIES DURING AND AFTER THE CLASS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Support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1783080"/>
            <a:ext cx="91440" cy="2066544"/>
          </a:xfrm>
          <a:prstGeom prst="rect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33272" y="2542032"/>
            <a:ext cx="548640" cy="548640"/>
          </a:xfrm>
          <a:prstGeom prst="ellipse">
            <a:avLst/>
          </a:prstGeom>
          <a:solidFill>
            <a:srgbClr val="1F6F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33272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764792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Email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enquiry@tertiaryinfotech.com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31636" y="1783080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31636" y="1783080"/>
            <a:ext cx="91440" cy="2066544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487668" y="2542032"/>
            <a:ext cx="548640" cy="548640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87668" y="2542032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219188" y="1911096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Telephone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+65 6100 0613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777240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77240" y="4087368"/>
            <a:ext cx="91440" cy="206654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3272" y="4846320"/>
            <a:ext cx="548640" cy="548640"/>
          </a:xfrm>
          <a:prstGeom prst="ellipse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2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764792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Website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www.tertiarycourses.com.sg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6231636" y="4087368"/>
            <a:ext cx="5180076" cy="2066544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231636" y="4087368"/>
            <a:ext cx="91440" cy="2066544"/>
          </a:xfrm>
          <a:prstGeom prst="rect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6487668" y="4846320"/>
            <a:ext cx="548640" cy="548640"/>
          </a:xfrm>
          <a:prstGeom prst="ellipse">
            <a:avLst/>
          </a:prstGeom>
          <a:solidFill>
            <a:srgbClr val="F59E0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87668" y="4846320"/>
            <a:ext cx="548640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9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219188" y="4215384"/>
            <a:ext cx="3973068" cy="1883664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300"/>
              </a:spcAft>
            </a:pPr>
            <a:r>
              <a:rPr sz="1700" b="1">
                <a:solidFill>
                  <a:srgbClr val="161B26"/>
                </a:solidFill>
                <a:latin typeface="Arial"/>
              </a:rPr>
              <a:t>Course Materials</a:t>
            </a:r>
          </a:p>
          <a:p>
            <a:pPr algn="l">
              <a:spcAft>
                <a:spcPts val="300"/>
              </a:spcAft>
            </a:pPr>
            <a:r>
              <a:rPr sz="1300" b="0">
                <a:solidFill>
                  <a:srgbClr val="5B6372"/>
                </a:solidFill>
                <a:latin typeface="Arial"/>
              </a:rPr>
              <a:t>github.com/tertiarycourses/C024-SQL-Masterclass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117</a:t>
            </a:r>
          </a:p>
        </p:txBody>
      </p:sp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141732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457200"/>
            <a:ext cx="1060704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400" b="1">
                <a:solidFill>
                  <a:srgbClr val="10B981"/>
                </a:solidFill>
                <a:latin typeface="Arial"/>
              </a:rPr>
              <a:t>COURSE FEEDBACK &amp; CERTIFICATION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822960"/>
            <a:ext cx="1088136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900" b="1">
                <a:solidFill>
                  <a:srgbClr val="161B26"/>
                </a:solidFill>
                <a:latin typeface="Arial"/>
              </a:rPr>
              <a:t>Course Feedback &amp; Certificate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777240" y="1554480"/>
            <a:ext cx="10634472" cy="18288"/>
          </a:xfrm>
          <a:prstGeom prst="rect">
            <a:avLst/>
          </a:prstGeom>
          <a:solidFill>
            <a:srgbClr val="E2E8F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777240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615059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615059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1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6968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Attend the full day and complete all 11 labs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66110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513582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513582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4351401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351401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23310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Complete the course feedback form — tell us what worked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902452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49924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249924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087743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87743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3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59652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Receive your Certificate of Achievement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638794" y="3497580"/>
            <a:ext cx="384048" cy="5486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1500" b="1">
                <a:solidFill>
                  <a:srgbClr val="10B981"/>
                </a:solidFill>
                <a:latin typeface="Arial"/>
              </a:rPr>
              <a:t>▶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986266" y="2331720"/>
            <a:ext cx="2425446" cy="2880360"/>
          </a:xfrm>
          <a:prstGeom prst="rect">
            <a:avLst/>
          </a:prstGeom>
          <a:solidFill>
            <a:srgbClr val="F5F8F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86266" y="2331720"/>
            <a:ext cx="2425446" cy="9144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9824085" y="2715768"/>
            <a:ext cx="749808" cy="749808"/>
          </a:xfrm>
          <a:prstGeom prst="ellipse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824085" y="2715768"/>
            <a:ext cx="749808" cy="749808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400"/>
              </a:spcAft>
            </a:pPr>
            <a:r>
              <a:rPr sz="3000" b="1">
                <a:solidFill>
                  <a:srgbClr val="FFFFFF"/>
                </a:solidFill>
                <a:latin typeface="Arial"/>
              </a:rPr>
              <a:t>4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95994" y="3703320"/>
            <a:ext cx="220599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1400" b="0">
                <a:solidFill>
                  <a:srgbClr val="161B26"/>
                </a:solidFill>
                <a:latin typeface="Arial"/>
              </a:rPr>
              <a:t>Continue with a recommended next course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118</a:t>
            </a:r>
          </a:p>
        </p:txBody>
      </p:sp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10B98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201168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1600" b="1">
                <a:solidFill>
                  <a:srgbClr val="10B981"/>
                </a:solidFill>
                <a:latin typeface="Arial"/>
              </a:rPr>
              <a:t>SEE YOU IN THE NEXT COURSE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560320"/>
            <a:ext cx="1033272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3800" b="1">
                <a:solidFill>
                  <a:srgbClr val="161B26"/>
                </a:solidFill>
                <a:latin typeface="Arial"/>
              </a:rPr>
              <a:t>Thank You!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24128" y="4480560"/>
            <a:ext cx="1005840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2000" b="0">
                <a:solidFill>
                  <a:srgbClr val="5B6372"/>
                </a:solidFill>
                <a:latin typeface="Arial"/>
              </a:rPr>
              <a:t>You can now model, query, transform and warehouse data with SQL — happy querying!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65760" y="6446520"/>
            <a:ext cx="68580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SQL Masterclass  ·  C024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572000" y="6446520"/>
            <a:ext cx="30175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© 2026 Tertiary Infotech Academy Pte Ltd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338560" y="6446520"/>
            <a:ext cx="5486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spcAft>
                <a:spcPts val="400"/>
              </a:spcAft>
            </a:pPr>
            <a:r>
              <a:rPr sz="900" b="0">
                <a:solidFill>
                  <a:srgbClr val="5B6372"/>
                </a:solidFill>
                <a:latin typeface="Arial"/>
              </a:rPr>
              <a:t>119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